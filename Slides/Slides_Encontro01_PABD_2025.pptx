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92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583680" y="0"/>
            <a:ext cx="914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6949440" y="1097280"/>
            <a:ext cx="1645920" cy="1645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"/>
            <a:ext cx="155448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457200" y="50292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  01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005840"/>
            <a:ext cx="5852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com Acesso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Banco de Dados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457200" y="251460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da Disciplina 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ao Ecossistema Node.js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3429000"/>
            <a:ext cx="5029200" cy="36576"/>
          </a:xfrm>
          <a:prstGeom prst="rect">
            <a:avLst/>
          </a:prstGeom>
          <a:solidFill>
            <a:srgbClr val="90B4CE"/>
          </a:solidFill>
          <a:ln w="12700">
            <a:solidFill>
              <a:srgbClr val="90B4C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457200" y="354787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Marcelo Damasceno de Melo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731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82880" y="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do Encontro 01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8412480" cy="6858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65760" y="896112"/>
            <a:ext cx="54864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896112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0058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94183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da disciplina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508760" y="124358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Ementa, objetivos e critérios de avaliação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" y="1691640"/>
            <a:ext cx="8412480" cy="685800"/>
          </a:xfrm>
          <a:prstGeom prst="rect">
            <a:avLst/>
          </a:prstGeom>
          <a:solidFill>
            <a:srgbClr val="11224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365760" y="1691640"/>
            <a:ext cx="54864" cy="6858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502920" y="169164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1801368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08760" y="173736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fundamentais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508760" y="2039112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API, BD, SGBD, driver de acesso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65760" y="2487168"/>
            <a:ext cx="8412480" cy="685800"/>
          </a:xfrm>
          <a:prstGeom prst="rect">
            <a:avLst/>
          </a:prstGeom>
          <a:solidFill>
            <a:srgbClr val="112240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4"/>
          <p:cNvSpPr/>
          <p:nvPr/>
        </p:nvSpPr>
        <p:spPr>
          <a:xfrm>
            <a:off x="365760" y="2487168"/>
            <a:ext cx="54864" cy="6858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5"/>
          <p:cNvSpPr/>
          <p:nvPr/>
        </p:nvSpPr>
        <p:spPr>
          <a:xfrm>
            <a:off x="502920" y="2487168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2596896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08760" y="253288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Ecossistema Node.js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1508760" y="283464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Runtime, npm, módulos e modelo de eventos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365760" y="3282696"/>
            <a:ext cx="8412480" cy="6858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19"/>
          <p:cNvSpPr/>
          <p:nvPr/>
        </p:nvSpPr>
        <p:spPr>
          <a:xfrm>
            <a:off x="365760" y="3282696"/>
            <a:ext cx="54864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0"/>
          <p:cNvSpPr/>
          <p:nvPr/>
        </p:nvSpPr>
        <p:spPr>
          <a:xfrm>
            <a:off x="502920" y="3282696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3392424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508760" y="332841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 da disciplina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1508760" y="363016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LTS, Express, mysql2/pg, dotenv, VS Code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365760" y="4078224"/>
            <a:ext cx="8412480" cy="685800"/>
          </a:xfrm>
          <a:prstGeom prst="rect">
            <a:avLst/>
          </a:prstGeom>
          <a:solidFill>
            <a:srgbClr val="11224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4"/>
          <p:cNvSpPr/>
          <p:nvPr/>
        </p:nvSpPr>
        <p:spPr>
          <a:xfrm>
            <a:off x="365760" y="4078224"/>
            <a:ext cx="54864" cy="6858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5"/>
          <p:cNvSpPr/>
          <p:nvPr/>
        </p:nvSpPr>
        <p:spPr>
          <a:xfrm>
            <a:off x="502920" y="4078224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4187952"/>
            <a:ext cx="457200" cy="45720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508760" y="4123944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prática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1508760" y="442569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Node.js: conexão + SELECT ao vivo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2103120"/>
            <a:ext cx="10972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74320" y="210312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Apresentação da Disciplina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74320" y="32461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Ementa · Objetivos · Avaliação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731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82880" y="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estudaremos? — Ementa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2743200" cy="173736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97840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97840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e Acesso a BD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29768" y="1463040"/>
            <a:ext cx="2542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Bibliotecas e drivers de conexão com bancos de dados relacionais a partir de aplicações Node.js.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172968" y="868680"/>
            <a:ext cx="2743200" cy="1737360"/>
          </a:xfrm>
          <a:prstGeom prst="rect">
            <a:avLst/>
          </a:prstGeom>
          <a:solidFill>
            <a:srgbClr val="112240"/>
          </a:solidFill>
          <a:ln w="12700">
            <a:solidFill>
              <a:srgbClr val="06D6A0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696" y="978408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67328" y="97840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Completo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282696" y="1463040"/>
            <a:ext cx="2542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Inserção, consulta, atualização e remoção de dados. Prepared statements e prevenção de SQL Injection.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025896" y="868680"/>
            <a:ext cx="2743200" cy="1737360"/>
          </a:xfrm>
          <a:prstGeom prst="rect">
            <a:avLst/>
          </a:prstGeom>
          <a:solidFill>
            <a:srgbClr val="112240"/>
          </a:solidFill>
          <a:ln w="12700">
            <a:solidFill>
              <a:srgbClr val="FFD166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5624" y="978408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20256" y="97840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em Camadas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6135624" y="1463040"/>
            <a:ext cx="2542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routes / controllers / models (Repository). Separação de responsabilidades e organização de código.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320040" y="2788920"/>
            <a:ext cx="2743200" cy="173736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" y="2898648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4400" y="289864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OR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429768" y="3383280"/>
            <a:ext cx="2542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Equivalência entre objetos JavaScript e linhas de tabelas. Associações (1:N, N:M) e serialização JSON.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3172968" y="2788920"/>
            <a:ext cx="2743200" cy="1737360"/>
          </a:xfrm>
          <a:prstGeom prst="rect">
            <a:avLst/>
          </a:prstGeom>
          <a:solidFill>
            <a:srgbClr val="112240"/>
          </a:solidFill>
          <a:ln w="12700">
            <a:solidFill>
              <a:srgbClr val="EF47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2696" y="2898648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767328" y="289864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Transações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3282696" y="3383280"/>
            <a:ext cx="2542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Propriedades ACID. Controle com BEGIN / COMMIT / ROLLBACK. Rollback automático em caso de erro.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6025896" y="2788920"/>
            <a:ext cx="2743200" cy="1737360"/>
          </a:xfrm>
          <a:prstGeom prst="rect">
            <a:avLst/>
          </a:prstGeom>
          <a:solidFill>
            <a:srgbClr val="112240"/>
          </a:solidFill>
          <a:ln w="12700">
            <a:solidFill>
              <a:srgbClr val="06D6A0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35624" y="2898648"/>
            <a:ext cx="411480" cy="4114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620256" y="289864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6135624" y="3383280"/>
            <a:ext cx="2542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Validação, middleware de erros, segurança de credenciais, qualidade de código e testes básicos.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731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82880" y="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da Disciplina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694944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54864" cy="6949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87552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9144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Compreender o acesso a BD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51560" y="121615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como uma aplicação Node.js se comunica com um banco de dados por meio de drivers como mysql2 e pg.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65760" y="1673352"/>
            <a:ext cx="8412480" cy="694944"/>
          </a:xfrm>
          <a:prstGeom prst="rect">
            <a:avLst/>
          </a:prstGeom>
          <a:solidFill>
            <a:srgbClr val="112240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365760" y="1673352"/>
            <a:ext cx="54864" cy="69494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79222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171907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padrões de codificação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051560" y="202082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arquitetura em camadas e padrões como Repository para organizar o código de forma profissional.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65760" y="2478024"/>
            <a:ext cx="8412480" cy="694944"/>
          </a:xfrm>
          <a:prstGeom prst="rect">
            <a:avLst/>
          </a:prstGeom>
          <a:solidFill>
            <a:srgbClr val="11224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365760" y="2478024"/>
            <a:ext cx="54864" cy="69494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596896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51560" y="252374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objetos e tabelas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051560" y="282549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Compreender a equivalência entre objetos JavaScript, linhas de tabelas e relacionamentos do modelo relacional.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365760" y="3282696"/>
            <a:ext cx="8412480" cy="694944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6"/>
          <p:cNvSpPr/>
          <p:nvPr/>
        </p:nvSpPr>
        <p:spPr>
          <a:xfrm>
            <a:off x="365760" y="3282696"/>
            <a:ext cx="54864" cy="6949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401568"/>
            <a:ext cx="438912" cy="4389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51560" y="332841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aplicações CRUD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051560" y="363016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APIs REST com Node.js e Express que realizam operações completas sobre um banco de dados.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65760" y="4087368"/>
            <a:ext cx="8412480" cy="694944"/>
          </a:xfrm>
          <a:prstGeom prst="rect">
            <a:avLst/>
          </a:prstGeom>
          <a:solidFill>
            <a:srgbClr val="112240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0"/>
          <p:cNvSpPr/>
          <p:nvPr/>
        </p:nvSpPr>
        <p:spPr>
          <a:xfrm>
            <a:off x="365760" y="4087368"/>
            <a:ext cx="54864" cy="694944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4206240"/>
            <a:ext cx="438912" cy="43891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51560" y="413308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Manipular transações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1051560" y="44348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BEGIN, COMMIT e ROLLBACK garantindo integridade dos dados em operações compostas.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731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82880" y="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seremos avaliados?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160520" cy="18288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7840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97840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 Práticos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05840" y="1325880"/>
            <a:ext cx="141732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1005840" y="13258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os bimestres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57200" y="1673352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realizadas em laboratório ao longo das aulas. Avaliação processual e contínua.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868680"/>
            <a:ext cx="4160520" cy="1828800"/>
          </a:xfrm>
          <a:prstGeom prst="rect">
            <a:avLst/>
          </a:prstGeom>
          <a:solidFill>
            <a:srgbClr val="112240"/>
          </a:solidFill>
          <a:ln w="12700">
            <a:solidFill>
              <a:srgbClr val="FFD166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97840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97840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AV1 — Avaliação Prática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303520" y="1325880"/>
            <a:ext cx="1417320" cy="25603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1"/>
          <p:cNvSpPr/>
          <p:nvPr/>
        </p:nvSpPr>
        <p:spPr>
          <a:xfrm>
            <a:off x="5303520" y="13258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1.º Bimestre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4754880" y="1673352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individual de uma API REST com CRUD completo, prepared statements e arquitetura em camadas.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20040" y="2834640"/>
            <a:ext cx="4160520" cy="1828800"/>
          </a:xfrm>
          <a:prstGeom prst="rect">
            <a:avLst/>
          </a:prstGeom>
          <a:solidFill>
            <a:srgbClr val="112240"/>
          </a:solidFill>
          <a:ln w="12700">
            <a:solidFill>
              <a:srgbClr val="06D6A0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944368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05840" y="294436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Integrador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1005840" y="3291840"/>
            <a:ext cx="1417320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6"/>
          <p:cNvSpPr/>
          <p:nvPr/>
        </p:nvSpPr>
        <p:spPr>
          <a:xfrm>
            <a:off x="1005840" y="32918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2.º Bimestre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457200" y="3639312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com múltiplas entidades, transações, validação e documentação mínima (README).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4617720" y="2834640"/>
            <a:ext cx="4160520" cy="1828800"/>
          </a:xfrm>
          <a:prstGeom prst="rect">
            <a:avLst/>
          </a:prstGeom>
          <a:solidFill>
            <a:srgbClr val="112240"/>
          </a:solidFill>
          <a:ln w="12700">
            <a:solidFill>
              <a:srgbClr val="EF47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2944368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03520" y="294436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AV2 — Avaliação Prática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5303520" y="3291840"/>
            <a:ext cx="1417320" cy="25603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1"/>
          <p:cNvSpPr/>
          <p:nvPr/>
        </p:nvSpPr>
        <p:spPr>
          <a:xfrm>
            <a:off x="5303520" y="32918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2.º Bimestre</a:t>
            </a:r>
            <a:endParaRPr lang="en-US" sz="850" dirty="0"/>
          </a:p>
        </p:txBody>
      </p:sp>
      <p:sp>
        <p:nvSpPr>
          <p:cNvPr id="28" name="Text 22"/>
          <p:cNvSpPr/>
          <p:nvPr/>
        </p:nvSpPr>
        <p:spPr>
          <a:xfrm>
            <a:off x="4754880" y="3639312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individual com escopo ampliado: JOIN, transações, middleware de erros e validação.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2103120"/>
            <a:ext cx="10972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74320" y="210312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Conceitos Fundamentais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74320" y="32461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· Banco de Dados · SGBD · Driver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731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82880" y="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Bancos de dados estão em todo lugar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aplicação moderna que persiste dados usa um banco de dados.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2743200" cy="150876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3716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78408" y="1371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Sociais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29768" y="1920240"/>
            <a:ext cx="2542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Posts, curtidas, seguidores, mensagens — tudo em BD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172968" y="1234440"/>
            <a:ext cx="2743200" cy="1508760"/>
          </a:xfrm>
          <a:prstGeom prst="rect">
            <a:avLst/>
          </a:prstGeom>
          <a:solidFill>
            <a:srgbClr val="112240"/>
          </a:solidFill>
          <a:ln w="12700">
            <a:solidFill>
              <a:srgbClr val="FFD166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696" y="13716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31336" y="1371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de Entrega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282696" y="1920240"/>
            <a:ext cx="2542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Cardápio, pedidos, rotas, pagamentos em tempo real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025896" y="1234440"/>
            <a:ext cx="2743200" cy="1508760"/>
          </a:xfrm>
          <a:prstGeom prst="rect">
            <a:avLst/>
          </a:prstGeom>
          <a:solidFill>
            <a:srgbClr val="112240"/>
          </a:solidFill>
          <a:ln w="12700">
            <a:solidFill>
              <a:srgbClr val="06D6A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5624" y="137160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84264" y="1371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Bancos Digitais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135624" y="1920240"/>
            <a:ext cx="2542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Saldo, transações, extrato, PIX — segurança crítica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320040" y="2926080"/>
            <a:ext cx="2743200" cy="1508760"/>
          </a:xfrm>
          <a:prstGeom prst="rect">
            <a:avLst/>
          </a:prstGeom>
          <a:solidFill>
            <a:srgbClr val="112240"/>
          </a:solidFill>
          <a:ln w="12700">
            <a:solidFill>
              <a:srgbClr val="EF476F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306324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78408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429768" y="3611880"/>
            <a:ext cx="2542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Catálogo, estoque, carrinho, histórico de compras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3172968" y="2926080"/>
            <a:ext cx="2743200" cy="150876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696" y="3063240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831336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3282696" y="3611880"/>
            <a:ext cx="2542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Catálogo, perfis, watchlist, recomendações por IA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6025896" y="2926080"/>
            <a:ext cx="2743200" cy="1508760"/>
          </a:xfrm>
          <a:prstGeom prst="rect">
            <a:avLst/>
          </a:prstGeom>
          <a:solidFill>
            <a:srgbClr val="112240"/>
          </a:solidFill>
          <a:ln w="12700">
            <a:solidFill>
              <a:srgbClr val="FFD166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5624" y="3063240"/>
            <a:ext cx="457200" cy="4572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684264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/ Sistemas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6135624" y="3611880"/>
            <a:ext cx="2542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RH, financeiro, logística, estoque integrados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731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82880" y="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 ×  SGBD — Qual a diferença?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4114800" cy="25146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64008" cy="2514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1440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9144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(BD)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1572768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Coleção organizada de dados estruturados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Armazenados de forma persistente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Representam entidades do mundo real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tabela de clientes, pedidos, produtos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um arquivo de gavetas com fichas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09160" y="841248"/>
            <a:ext cx="4114800" cy="2514600"/>
          </a:xfrm>
          <a:prstGeom prst="rect">
            <a:avLst/>
          </a:prstGeom>
          <a:solidFill>
            <a:srgbClr val="11224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4709160" y="841248"/>
            <a:ext cx="64008" cy="25146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91440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32120" y="9144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SGBD — Sistema Gerenciador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532120" y="120700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(Software que gerencia o BD)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892040" y="1572768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que controla o acesso ao BD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 concorrência, segurança e integridade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 linguagem de consulta (SQL)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Exemplos: MySQL, PostgreSQL, MariaDB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o bibliotecário que controla o arquivo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206240" y="1691640"/>
            <a:ext cx="731520" cy="731520"/>
          </a:xfrm>
          <a:prstGeom prst="lin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3"/>
          <p:cNvSpPr/>
          <p:nvPr/>
        </p:nvSpPr>
        <p:spPr>
          <a:xfrm>
            <a:off x="420624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731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82880" y="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uma API?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850392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6400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822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r>
              <a:rPr lang="en-US" sz="12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(Application Programming Interface) é um conjunto de regras e contratos que define como componentes de software se comunicam entre si.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965960"/>
            <a:ext cx="4023360" cy="1417320"/>
          </a:xfrm>
          <a:prstGeom prst="rect">
            <a:avLst/>
          </a:prstGeom>
          <a:solidFill>
            <a:srgbClr val="112240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 — Tomada Eletrica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39572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Voce </a:t>
            </a:r>
            <a:r>
              <a:rPr lang="en-US" sz="1000" dirty="0" err="1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precisa saber como a usina gera energia. Basta encaixar o plugue na tomada e usar a eletricidade — a tomada e a API.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965960"/>
            <a:ext cx="4251960" cy="1417320"/>
          </a:xfrm>
          <a:prstGeom prst="rect">
            <a:avLst/>
          </a:prstGeom>
          <a:solidFill>
            <a:srgbClr val="11224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709160" y="2057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que veremos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2395728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interface HTTP para comunicacao entre cliente e servidor
</a:t>
            </a: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/ Biblioteca</a:t>
            </a: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API de acesso ao banco de dados (mysql2, pg)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35204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comunicacao (visao geral):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2286000" cy="82296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57200" y="3840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Aplicacao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063240" y="3840480"/>
            <a:ext cx="2286000" cy="822960"/>
          </a:xfrm>
          <a:prstGeom prst="rect">
            <a:avLst/>
          </a:prstGeom>
          <a:solidFill>
            <a:srgbClr val="112240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3063240" y="3840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0" y="3840480"/>
            <a:ext cx="2286000" cy="822960"/>
          </a:xfrm>
          <a:prstGeom prst="rect">
            <a:avLst/>
          </a:prstGeom>
          <a:solidFill>
            <a:srgbClr val="11224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669280" y="3840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SGBD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(MySQL/PG)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0" y="4215384"/>
            <a:ext cx="320040" cy="54864"/>
          </a:xfrm>
          <a:prstGeom prst="rect">
            <a:avLst/>
          </a:prstGeom>
          <a:solidFill>
            <a:srgbClr val="90B4CE"/>
          </a:solidFill>
          <a:ln w="12700">
            <a:solidFill>
              <a:srgbClr val="90B4C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2971800" y="413308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349240" y="4215384"/>
            <a:ext cx="320040" cy="54864"/>
          </a:xfrm>
          <a:prstGeom prst="rect">
            <a:avLst/>
          </a:prstGeom>
          <a:solidFill>
            <a:srgbClr val="90B4CE"/>
          </a:solidFill>
          <a:ln w="12700">
            <a:solidFill>
              <a:srgbClr val="90B4C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5577840" y="413308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731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82880" y="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de Acesso ao Banco de Dados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850392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64008" cy="7772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822960"/>
            <a:ext cx="8275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driver e uma biblioteca que implementa o protocolo de comunicacao especifico de um SGBD, permitindo que a aplicacao envie comandos SQL e receba resultados.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719072"/>
            <a:ext cx="4160520" cy="2743200"/>
          </a:xfrm>
          <a:prstGeom prst="rect">
            <a:avLst/>
          </a:prstGeom>
          <a:solidFill>
            <a:srgbClr val="112240"/>
          </a:solidFill>
          <a:ln w="12700">
            <a:solidFill>
              <a:srgbClr val="06D6A0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320040" y="1719072"/>
            <a:ext cx="64008" cy="2743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" y="17830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21488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para MySQL e MariaDB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42316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performance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a Promises/async-await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statements nativos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 mysql2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09160" y="1719072"/>
            <a:ext cx="4160520" cy="27432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709160" y="1719072"/>
            <a:ext cx="64008" cy="2743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892040" y="17830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(node-postgres)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92040" y="21488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para PostgreSQL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242316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Amplamente usado em producao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a tipos especiais do PG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de conexoes embutido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 pg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2103120"/>
            <a:ext cx="10972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74320" y="210312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Ecossistema Node.js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74320" y="32461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· npm · Módulos · Modelo de Eventos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731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82880" y="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Node.js?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8503920" cy="868680"/>
          </a:xfrm>
          <a:prstGeom prst="rect">
            <a:avLst/>
          </a:prstGeom>
          <a:solidFill>
            <a:srgbClr val="11224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64008" cy="8686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822960"/>
            <a:ext cx="8275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r>
              <a:rPr lang="en-US" sz="11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um runtime JavaScript construido sobre o motor V8 do Google Chrome. Permite executar JavaScript no servidor, fora do navegador — ideal para APIs, microservicos e ferramentas CLI.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810512"/>
            <a:ext cx="4160520" cy="1417320"/>
          </a:xfrm>
          <a:prstGeom prst="rect">
            <a:avLst/>
          </a:prstGeom>
          <a:solidFill>
            <a:srgbClr val="112240"/>
          </a:solidFill>
          <a:ln w="12700">
            <a:solidFill>
              <a:srgbClr val="06D6A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920240"/>
            <a:ext cx="438912" cy="4389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8408" y="192024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Criado em 2009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240487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 Dahl lanca o Node.js unindo o V8 do Chrome com I/O assíncrono. Hoje mantido pela OpenJS Foundation.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663440" y="1810512"/>
            <a:ext cx="4160520" cy="141732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1920240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21808" y="192024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no servidor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800600" y="240487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linguagem do frontend passa a ser usada no backend, unificando a stack de desenvolvimento.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20040" y="3383280"/>
            <a:ext cx="4160520" cy="1417320"/>
          </a:xfrm>
          <a:prstGeom prst="rect">
            <a:avLst/>
          </a:prstGeom>
          <a:solidFill>
            <a:srgbClr val="112240"/>
          </a:solidFill>
          <a:ln w="12700">
            <a:solidFill>
              <a:srgbClr val="FFD166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3493008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78408" y="349300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event-driven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57200" y="397764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 em loop de eventos (event loop) com I/O nao bloqueante — eficiente para muitas conexoes simultâneas.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663440" y="3383280"/>
            <a:ext cx="4160520" cy="1417320"/>
          </a:xfrm>
          <a:prstGeom prst="rect">
            <a:avLst/>
          </a:prstGeom>
          <a:solidFill>
            <a:srgbClr val="112240"/>
          </a:solidFill>
          <a:ln w="12700">
            <a:solidFill>
              <a:srgbClr val="06D6A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3168" y="3493008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21808" y="349300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Ecossistema npm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800600" y="397764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com mais de 2 milhoes de pacotes. É o maior ecossistema de bibliotecas do mundo.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731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82880" y="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Eventos e I/O Não Bloqueante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Node.js é eficiente para APIs com acesso a banco de dados?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023360" cy="2743200"/>
          </a:xfrm>
          <a:prstGeom prst="rect">
            <a:avLst/>
          </a:prstGeom>
          <a:solidFill>
            <a:srgbClr val="112240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64008" cy="274320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02920" y="12984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Bloqueante (tradicional)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36576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Requisicao chega ao servidor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Thread executa a query SQL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Thread AGUARDA o SGBD responder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Enquanto aguarda, fica parada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So entao processa a proxima req.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Cada req. ocupa uma thread inteira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234440"/>
            <a:ext cx="4023360" cy="2743200"/>
          </a:xfrm>
          <a:prstGeom prst="rect">
            <a:avLst/>
          </a:prstGeom>
          <a:solidFill>
            <a:srgbClr val="11224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800600" y="1234440"/>
            <a:ext cx="64008" cy="2743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983480" y="12984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Nao Bloqueante (Node.js)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83480" y="1691640"/>
            <a:ext cx="36576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Requisicao chega ao servidor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Node.js envia query SQL ao SGBD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Continua processando outras reqs.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SGBD responde → callback/Promise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Node.js retoma e envia a resposta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Uma thread serve muitas conexoes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60520" y="2331720"/>
            <a:ext cx="731520" cy="731520"/>
          </a:xfrm>
          <a:prstGeom prst="lin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160520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0040" y="4133088"/>
            <a:ext cx="850392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02920" y="41330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Curiosidade: </a:t>
            </a: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LinkedIn migrou seu backend mobile de Ruby on Rails para Node.js e reduziu o numero de servidores de 30 para 3, mantendo o mesmo desempenho.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2103120"/>
            <a:ext cx="10972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74320" y="210312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Tecnologias da Disciplina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74320" y="32461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completo que usaremos ao longo do semestre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731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82880" y="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da Disciplina — Visão Geral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8503920" cy="603504"/>
          </a:xfrm>
          <a:prstGeom prst="rect">
            <a:avLst/>
          </a:prstGeom>
          <a:solidFill>
            <a:srgbClr val="11224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64008" cy="60350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41832"/>
            <a:ext cx="438912" cy="4389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005840" y="1005840"/>
            <a:ext cx="1463040" cy="2926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1005840" y="10058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606040" y="94183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LTS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00600" y="923544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JavaScript no servidor. Versao LTS = Long Term Support (estavel para producao).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0040" y="1572768"/>
            <a:ext cx="8503920" cy="603504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320040" y="1572768"/>
            <a:ext cx="64008" cy="6035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438912" cy="43891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1005840" y="1709928"/>
            <a:ext cx="14630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2"/>
          <p:cNvSpPr/>
          <p:nvPr/>
        </p:nvSpPr>
        <p:spPr>
          <a:xfrm>
            <a:off x="1005840" y="17099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Web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2606040" y="16459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800600" y="162763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minimalista para criacao de APIs REST. Define rotas, middlewares e respostas HTTP.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320040" y="2276856"/>
            <a:ext cx="8503920" cy="603504"/>
          </a:xfrm>
          <a:prstGeom prst="rect">
            <a:avLst/>
          </a:prstGeom>
          <a:solidFill>
            <a:srgbClr val="112240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6"/>
          <p:cNvSpPr/>
          <p:nvPr/>
        </p:nvSpPr>
        <p:spPr>
          <a:xfrm>
            <a:off x="320040" y="2276856"/>
            <a:ext cx="64008" cy="60350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350008"/>
            <a:ext cx="438912" cy="438912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1005840" y="2414016"/>
            <a:ext cx="1463040" cy="2926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18"/>
          <p:cNvSpPr/>
          <p:nvPr/>
        </p:nvSpPr>
        <p:spPr>
          <a:xfrm>
            <a:off x="1005840" y="24140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Gerenc. Pacotes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2606040" y="23500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4800600" y="233172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Package Manager — instala e gerencia as dependencias (bibliotecas) do projeto.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320040" y="2980944"/>
            <a:ext cx="8503920" cy="603504"/>
          </a:xfrm>
          <a:prstGeom prst="rect">
            <a:avLst/>
          </a:prstGeom>
          <a:solidFill>
            <a:srgbClr val="11224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2"/>
          <p:cNvSpPr/>
          <p:nvPr/>
        </p:nvSpPr>
        <p:spPr>
          <a:xfrm>
            <a:off x="320040" y="2980944"/>
            <a:ext cx="64008" cy="60350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054096"/>
            <a:ext cx="438912" cy="438912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1005840" y="3118104"/>
            <a:ext cx="1463040" cy="2926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4"/>
          <p:cNvSpPr/>
          <p:nvPr/>
        </p:nvSpPr>
        <p:spPr>
          <a:xfrm>
            <a:off x="1005840" y="31181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de BD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2606040" y="305409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mysql2  /  pg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4800600" y="303580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a aplicacao ao SGBD MySQL/MariaDB ou PostgreSQL. Executa queries e retorna resultados.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320040" y="3685032"/>
            <a:ext cx="8503920" cy="603504"/>
          </a:xfrm>
          <a:prstGeom prst="rect">
            <a:avLst/>
          </a:prstGeom>
          <a:solidFill>
            <a:srgbClr val="112240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28"/>
          <p:cNvSpPr/>
          <p:nvPr/>
        </p:nvSpPr>
        <p:spPr>
          <a:xfrm>
            <a:off x="320040" y="3685032"/>
            <a:ext cx="64008" cy="603504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758184"/>
            <a:ext cx="438912" cy="438912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1005840" y="3822192"/>
            <a:ext cx="1463040" cy="29260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0"/>
          <p:cNvSpPr/>
          <p:nvPr/>
        </p:nvSpPr>
        <p:spPr>
          <a:xfrm>
            <a:off x="1005840" y="38221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Variaveis Amb.</a:t>
            </a:r>
            <a:endParaRPr lang="en-US" sz="800" dirty="0"/>
          </a:p>
        </p:txBody>
      </p:sp>
      <p:sp>
        <p:nvSpPr>
          <p:cNvPr id="38" name="Text 31"/>
          <p:cNvSpPr/>
          <p:nvPr/>
        </p:nvSpPr>
        <p:spPr>
          <a:xfrm>
            <a:off x="2606040" y="375818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dotenv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4800600" y="3739896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Carrega variaveis de ambiente de um arquivo .env. Mantem credenciais fora do codigo-fonte.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320040" y="4389120"/>
            <a:ext cx="8503920" cy="603504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Shape 34"/>
          <p:cNvSpPr/>
          <p:nvPr/>
        </p:nvSpPr>
        <p:spPr>
          <a:xfrm>
            <a:off x="320040" y="4389120"/>
            <a:ext cx="64008" cy="6035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4462272"/>
            <a:ext cx="438912" cy="438912"/>
          </a:xfrm>
          <a:prstGeom prst="rect">
            <a:avLst/>
          </a:prstGeom>
        </p:spPr>
      </p:pic>
      <p:sp>
        <p:nvSpPr>
          <p:cNvPr id="43" name="Shape 35"/>
          <p:cNvSpPr/>
          <p:nvPr/>
        </p:nvSpPr>
        <p:spPr>
          <a:xfrm>
            <a:off x="1005840" y="4526280"/>
            <a:ext cx="14630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36"/>
          <p:cNvSpPr/>
          <p:nvPr/>
        </p:nvSpPr>
        <p:spPr>
          <a:xfrm>
            <a:off x="1005840" y="45262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</a:t>
            </a:r>
            <a:endParaRPr lang="en-US" sz="800" dirty="0"/>
          </a:p>
        </p:txBody>
      </p:sp>
      <p:sp>
        <p:nvSpPr>
          <p:cNvPr id="45" name="Text 37"/>
          <p:cNvSpPr/>
          <p:nvPr/>
        </p:nvSpPr>
        <p:spPr>
          <a:xfrm>
            <a:off x="2606040" y="446227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200" dirty="0"/>
          </a:p>
        </p:txBody>
      </p:sp>
      <p:sp>
        <p:nvSpPr>
          <p:cNvPr id="46" name="Text 38"/>
          <p:cNvSpPr/>
          <p:nvPr/>
        </p:nvSpPr>
        <p:spPr>
          <a:xfrm>
            <a:off x="4800600" y="4443984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leve e extensível. Extensoes: ESLint, Prettier, REST Client, Node.js Extension Pack.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2103120"/>
            <a:ext cx="10972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74320" y="210312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Demonstração Prática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74320" y="32461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Node.js: conexão com BD e consulta SELECT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731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82880" y="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Conceitual: Aplicação → Driver → SGBD → BD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cada camada participa de uma consulta SQL: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8503920" cy="640080"/>
          </a:xfrm>
          <a:prstGeom prst="rect">
            <a:avLst/>
          </a:prstGeom>
          <a:solidFill>
            <a:srgbClr val="11224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457200" cy="457200"/>
          </a:xfrm>
          <a:prstGeom prst="lin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65760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261872"/>
            <a:ext cx="438912" cy="4389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12161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Aplicacao Node.js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508760" y="150876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controller recebe a requisicao HTTP, monta os parametros e chama o repository.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0040" y="1911096"/>
            <a:ext cx="8503920" cy="640080"/>
          </a:xfrm>
          <a:prstGeom prst="rect">
            <a:avLst/>
          </a:prstGeom>
          <a:solidFill>
            <a:srgbClr val="112240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365760" y="2002536"/>
            <a:ext cx="457200" cy="457200"/>
          </a:xfrm>
          <a:prstGeom prst="lin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365760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002536"/>
            <a:ext cx="438912" cy="4389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08760" y="19568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Repository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508760" y="224942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Responsavel por acessar o banco. Usa o driver (mysql2/pg) para montar e executar a query.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20040" y="2651760"/>
            <a:ext cx="8503920" cy="6400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5"/>
          <p:cNvSpPr/>
          <p:nvPr/>
        </p:nvSpPr>
        <p:spPr>
          <a:xfrm>
            <a:off x="365760" y="2743200"/>
            <a:ext cx="457200" cy="457200"/>
          </a:xfrm>
          <a:prstGeom prst="lin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6"/>
          <p:cNvSpPr/>
          <p:nvPr/>
        </p:nvSpPr>
        <p:spPr>
          <a:xfrm>
            <a:off x="36576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2743200"/>
            <a:ext cx="438912" cy="43891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508760" y="2697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(mysql2 / pg)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1508760" y="299008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Traduz a chamada JS para o protocolo do SGBD, envia via TCP/IP e aguarda a resposta.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320040" y="3392424"/>
            <a:ext cx="8503920" cy="6400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0"/>
          <p:cNvSpPr/>
          <p:nvPr/>
        </p:nvSpPr>
        <p:spPr>
          <a:xfrm>
            <a:off x="365760" y="3483864"/>
            <a:ext cx="457200" cy="457200"/>
          </a:xfrm>
          <a:prstGeom prst="lin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1"/>
          <p:cNvSpPr/>
          <p:nvPr/>
        </p:nvSpPr>
        <p:spPr>
          <a:xfrm>
            <a:off x="365760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3483864"/>
            <a:ext cx="438912" cy="43891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508760" y="34381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SGBD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1508760" y="373075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a query SQL, otimiza o plano de execucao e processa a operacao no banco.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320040" y="4133088"/>
            <a:ext cx="8503920" cy="640080"/>
          </a:xfrm>
          <a:prstGeom prst="rect">
            <a:avLst/>
          </a:prstGeom>
          <a:solidFill>
            <a:srgbClr val="11224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5"/>
          <p:cNvSpPr/>
          <p:nvPr/>
        </p:nvSpPr>
        <p:spPr>
          <a:xfrm>
            <a:off x="365760" y="4224528"/>
            <a:ext cx="457200" cy="457200"/>
          </a:xfrm>
          <a:prstGeom prst="lin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26"/>
          <p:cNvSpPr/>
          <p:nvPr/>
        </p:nvSpPr>
        <p:spPr>
          <a:xfrm>
            <a:off x="36576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4224528"/>
            <a:ext cx="438912" cy="43891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508760" y="41788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1508760" y="447141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 fisico dos dados. O SGBD le as paginas relevantes e retorna o resultado.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731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82880" y="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Demo — Arquivo .env e Configuração da Conexão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8229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 .env  (nunca commitar no Git!)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4069080" cy="1508760"/>
          </a:xfrm>
          <a:prstGeom prst="rect">
            <a:avLst/>
          </a:prstGeom>
          <a:solidFill>
            <a:srgbClr val="0A1628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1207008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DB_HOST</a:t>
            </a:r>
            <a:r>
              <a:rPr lang="en-US" sz="110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=localhost
</a:t>
            </a:r>
            <a:r>
              <a:rPr lang="en-US" sz="11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DB_PORT</a:t>
            </a:r>
            <a:r>
              <a:rPr lang="en-US" sz="110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=3306
</a:t>
            </a:r>
            <a:r>
              <a:rPr lang="en-US" sz="11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DB_USER</a:t>
            </a:r>
            <a:r>
              <a:rPr lang="en-US" sz="110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=root
</a:t>
            </a:r>
            <a:r>
              <a:rPr lang="en-US" sz="11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DB_PASS</a:t>
            </a:r>
            <a:r>
              <a:rPr lang="en-US" sz="110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=senha123
</a:t>
            </a:r>
            <a:r>
              <a:rPr lang="en-US" sz="11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DB_NAME</a:t>
            </a:r>
            <a:r>
              <a:rPr lang="en-US" sz="110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=escola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17720" y="8229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db/connection.js  —  Pool de conexoes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1143000"/>
            <a:ext cx="4206240" cy="1508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754880" y="1252728"/>
            <a:ext cx="3138658" cy="12421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</a:t>
            </a:r>
            <a:r>
              <a:rPr lang="en-US" sz="85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('dotenv').config();
</a:t>
            </a:r>
            <a:r>
              <a:rPr lang="en-US" sz="8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r>
              <a:rPr lang="en-US" sz="85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 = </a:t>
            </a:r>
            <a:r>
              <a:rPr lang="en-US" sz="8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</a:t>
            </a:r>
            <a:r>
              <a:rPr lang="en-US" sz="85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('mysql2/promise');
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pool = mysql.createPool({
</a:t>
            </a:r>
            <a:r>
              <a:rPr lang="en-US" sz="8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host: </a:t>
            </a:r>
            <a:r>
              <a:rPr lang="en-US" sz="85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process.env.DB_HOST,
</a:t>
            </a:r>
            <a:r>
              <a:rPr lang="en-US" sz="8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user: </a:t>
            </a:r>
            <a:r>
              <a:rPr lang="en-US" sz="85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process.env.DB_USER,
</a:t>
            </a:r>
            <a:r>
              <a:rPr lang="en-US" sz="8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password: </a:t>
            </a:r>
            <a:r>
              <a:rPr lang="en-US" sz="85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process.env.DB_PASS,
</a:t>
            </a:r>
            <a:r>
              <a:rPr lang="en-US" sz="8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database: </a:t>
            </a:r>
            <a:r>
              <a:rPr lang="en-US" sz="85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process.env.DB_NAME,
</a:t>
            </a:r>
            <a:r>
              <a:rPr lang="en-US" sz="85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
</a:t>
            </a:r>
            <a:r>
              <a:rPr lang="en-US" sz="8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module.exports </a:t>
            </a:r>
            <a:r>
              <a:rPr lang="en-US" sz="85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pool;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788920"/>
            <a:ext cx="850392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02920" y="2788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Segurança: </a:t>
            </a: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arquivo .env contém credenciais sensíveis. Adicione-o ao .gitignore imediatamente. Nunca exponha senhas no código-fonte — o dotenv garante que elas sejam carregadas apenas em tempo de execução.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3493008"/>
            <a:ext cx="8503920" cy="137160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320040" y="3493008"/>
            <a:ext cx="8503920" cy="2926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57200" y="3493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repository/alunoRepository.js  —  Executando um SELECT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813048"/>
            <a:ext cx="82296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r>
              <a:rPr lang="en-US" sz="95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pool = </a:t>
            </a:r>
            <a:r>
              <a:rPr 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</a:t>
            </a:r>
            <a:r>
              <a:rPr lang="en-US" sz="95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('../db/connection');
</a:t>
            </a: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</a:t>
            </a:r>
            <a:r>
              <a:rPr lang="en-US" sz="95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listarAlunos</a:t>
            </a:r>
            <a:r>
              <a:rPr lang="en-US" sz="95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
</a:t>
            </a: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</a:t>
            </a:r>
            <a:r>
              <a:rPr lang="en-US" sz="95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[rows] = await pool.query(</a:t>
            </a:r>
            <a:r>
              <a:rPr 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'SELECT id, nome, email FROM alunos'</a:t>
            </a:r>
            <a:r>
              <a:rPr lang="en-US" sz="95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
</a:t>
            </a: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</a:t>
            </a:r>
            <a:r>
              <a:rPr lang="en-US" sz="95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rows;
}
module.exports = { listarAlunos };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731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82880" y="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Demo — Rota Express e Execução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2189988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850392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routes/alunoRoutes.js  —  Definicao da rota GET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58468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express = </a:t>
            </a: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</a:t>
            </a:r>
            <a:r>
              <a:rPr lang="en-US" sz="90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('express');
</a:t>
            </a:r>
            <a:r>
              <a:rPr lang="en-US" sz="9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r>
              <a:rPr lang="en-US" sz="90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 = express.Router();
</a:t>
            </a:r>
            <a:r>
              <a:rPr lang="en-US" sz="9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r>
              <a:rPr lang="en-US" sz="90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listarAlunos } = </a:t>
            </a: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</a:t>
            </a:r>
            <a:r>
              <a:rPr lang="en-US" sz="90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('../repository/alunoRepository');
</a:t>
            </a: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router.get</a:t>
            </a:r>
            <a:r>
              <a:rPr lang="en-US" sz="90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('/alunos', </a:t>
            </a:r>
            <a:r>
              <a:rPr lang="en-US" sz="9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</a:t>
            </a:r>
            <a:r>
              <a:rPr lang="en-US" sz="90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(req, res) =&gt; {
</a:t>
            </a:r>
            <a:r>
              <a:rPr lang="en-US" sz="9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</a:t>
            </a:r>
            <a:r>
              <a:rPr lang="en-US" sz="90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</a:t>
            </a:r>
            <a:r>
              <a:rPr lang="en-US" sz="9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</a:t>
            </a:r>
            <a:r>
              <a:rPr lang="en-US" sz="90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alunos </a:t>
            </a:r>
            <a:r>
              <a:rPr lang="en-US" sz="9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await listarAlunos();
</a:t>
            </a:r>
            <a:r>
              <a:rPr lang="en-US" sz="90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res.json({ success: </a:t>
            </a: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90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data: alunos });
  } </a:t>
            </a:r>
            <a:r>
              <a:rPr lang="en-US" sz="9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</a:t>
            </a:r>
            <a:r>
              <a:rPr lang="en-US" sz="90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(err) { res.status(500).json({ success: </a:t>
            </a:r>
            <a:r>
              <a:rPr lang="en-US" sz="90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900" dirty="0">
                <a:solidFill>
                  <a:srgbClr val="F8F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message: err.message }); }
});
module.exports = router;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3150108"/>
            <a:ext cx="4160520" cy="804672"/>
          </a:xfrm>
          <a:prstGeom prst="rect">
            <a:avLst/>
          </a:prstGeom>
          <a:solidFill>
            <a:srgbClr val="11224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320040" y="3150108"/>
            <a:ext cx="64008" cy="8046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02920" y="32049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listarAlunos()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5707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Chamada ao repository — acessa o banco e retorna os dados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3150108"/>
            <a:ext cx="4160520" cy="804672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4663440" y="3150108"/>
            <a:ext cx="64008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846320" y="32049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/ await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35707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Aguarda a operacao assincrona sem bloquear o event loop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4110228"/>
            <a:ext cx="4160520" cy="804672"/>
          </a:xfrm>
          <a:prstGeom prst="rect">
            <a:avLst/>
          </a:prstGeom>
          <a:solidFill>
            <a:srgbClr val="112240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320040" y="4110228"/>
            <a:ext cx="64008" cy="8046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02920" y="41650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res.json()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5308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 a resposta HTTP em formato JSON ao cliente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4110228"/>
            <a:ext cx="4160520" cy="804672"/>
          </a:xfrm>
          <a:prstGeom prst="rect">
            <a:avLst/>
          </a:prstGeom>
          <a:solidFill>
            <a:srgbClr val="112240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4663440" y="4110228"/>
            <a:ext cx="64008" cy="80467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846320" y="41650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/ catch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45308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erros e retorna status 500 com mensagem descritiva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583680" y="0"/>
            <a:ext cx="91440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6949440" y="1188720"/>
            <a:ext cx="1554480" cy="1554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57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Recapitulando: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914400"/>
            <a:ext cx="54864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640080" y="91440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vs SGBD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1152144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= dados. SGBD = software que gerencia.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554480"/>
            <a:ext cx="54864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40080" y="155448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 Driver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1792224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de comunicacao + biblioteca de acesso ao BD.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2194560"/>
            <a:ext cx="54864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40080" y="219456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2432304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JS no servidor, event-driven, I/O nao bloqueante.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2834640"/>
            <a:ext cx="54864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640080" y="28346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da disciplina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0080" y="3072384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 · npm · mysql2/pg · dotenv · VS Code.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3566160"/>
            <a:ext cx="5943600" cy="1188720"/>
          </a:xfrm>
          <a:prstGeom prst="rect">
            <a:avLst/>
          </a:prstGeom>
          <a:solidFill>
            <a:srgbClr val="11224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457200" y="3566160"/>
            <a:ext cx="73152" cy="1188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640080" y="363016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 02  —  21/03/2025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40080" y="395020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Configuracao do Ambiente: Node.js LTS, npm e VS Code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40080" y="425196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opcional: pesquise o que e o npm e como instalar pacotes.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1948</Words>
  <Application>Microsoft Macintosh PowerPoint</Application>
  <PresentationFormat>Apresentação na tela (16:9)</PresentationFormat>
  <Paragraphs>245</Paragraphs>
  <Slides>21</Slides>
  <Notes>21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Programação com Acesso a Banco de Dados — Encontro 01</dc:title>
  <dc:subject>PptxGenJS Presentation</dc:subject>
  <dc:creator>PptxGenJS</dc:creator>
  <cp:lastModifiedBy>Marcelo Damasceno de Melo</cp:lastModifiedBy>
  <cp:revision>2</cp:revision>
  <dcterms:created xsi:type="dcterms:W3CDTF">2026-03-05T13:01:39Z</dcterms:created>
  <dcterms:modified xsi:type="dcterms:W3CDTF">2026-03-05T13:25:24Z</dcterms:modified>
</cp:coreProperties>
</file>